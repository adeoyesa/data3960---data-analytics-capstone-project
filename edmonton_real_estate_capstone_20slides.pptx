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Edmonton Real Estate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&amp; Staleness Prediction</a:t>
            </a:r>
          </a:p>
          <a:p>
            <a:r>
              <a:t>Your Name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properties that stay &gt;60 days on market</a:t>
            </a:r>
          </a:p>
          <a:p>
            <a:r>
              <a:t>- Adjust pricing</a:t>
            </a:r>
          </a:p>
          <a:p>
            <a:r>
              <a:t>- Reduce DOM</a:t>
            </a:r>
          </a:p>
          <a:p>
            <a:r>
              <a:t>- Improve seller/agent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Listings: rows, columns</a:t>
            </a:r>
          </a:p>
          <a:p>
            <a:r>
              <a:t>Sold Listings: rows, columns</a:t>
            </a:r>
          </a:p>
          <a:p>
            <a:r>
              <a:t>Key columns: list_price, dom, community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- Column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snippet: clean_columns()</a:t>
            </a:r>
          </a:p>
          <a:p>
            <a:r>
              <a:t>- Removes spaces and special chars</a:t>
            </a:r>
          </a:p>
          <a:p>
            <a:r>
              <a:t>- Converts to lowercase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full-row duplicates and listing_id duplicates</a:t>
            </a:r>
          </a:p>
          <a:p>
            <a:r>
              <a:t>Ensures data integrity before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Duplicate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snippet: drop_duplicates()</a:t>
            </a:r>
          </a:p>
          <a:p>
            <a:r>
              <a:t>- Removes duplicates</a:t>
            </a:r>
          </a:p>
          <a:p>
            <a:r>
              <a:t>- Prevents bias and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Edmonton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 dataset for area_city='Edmonton'</a:t>
            </a:r>
          </a:p>
          <a:p>
            <a:r>
              <a:t>Focus on local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 - Stale 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stale_listing = (dom&gt;60)</a:t>
            </a:r>
          </a:p>
          <a:p>
            <a:r>
              <a:t>Only sold listings have DOM</a:t>
            </a:r>
          </a:p>
          <a:p>
            <a:r>
              <a:t>Binary target: 0=quick sale, 1=stale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 price_gap and price_gap_pct</a:t>
            </a:r>
          </a:p>
          <a:p>
            <a:r>
              <a:t>Compare listing to neighborhood average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Gap vs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 placeholder</a:t>
            </a:r>
          </a:p>
          <a:p>
            <a:r>
              <a:t>Shows correlation between price gap (%) and DOM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Features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flrarea_sf, list_price, price_gap, baths, yr_built, beds</a:t>
            </a:r>
          </a:p>
          <a:p>
            <a:r>
              <a:t>Correlation with stale_listing (weak)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Features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Stale rates by style, parking, condo_name</a:t>
            </a:r>
          </a:p>
          <a:p>
            <a:r>
              <a:t>Shows property types that stay longer on market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Overpriced Listings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 listings above neighborhood average</a:t>
            </a:r>
          </a:p>
          <a:p>
            <a:r>
              <a:t>48% are overpriced, may stay longer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Sales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DOM by month placeholder</a:t>
            </a:r>
          </a:p>
          <a:p>
            <a:r>
              <a:t>January/December slowest, May fastest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features: floor area per bed, bed-to-bath ratio, month, season</a:t>
            </a:r>
          </a:p>
          <a:p>
            <a:r>
              <a:t>Helps model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Enrichment - Geocoding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Nominatim &amp; RateLimiter</a:t>
            </a:r>
          </a:p>
          <a:p>
            <a:r>
              <a:t>Full address to latitude/longitude mapping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Geocoded Sample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missing lat/long, summary stats</a:t>
            </a:r>
          </a:p>
          <a:p>
            <a:r>
              <a:t>Ensures coordinates are correct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Geocoded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 placeholder</a:t>
            </a:r>
          </a:p>
          <a:p>
            <a:r>
              <a:t>Shows property clusters in Edmonton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alone not sufficient</a:t>
            </a:r>
          </a:p>
          <a:p>
            <a:r>
              <a:t>Focus on property type, style, season</a:t>
            </a:r>
          </a:p>
          <a:p>
            <a:r>
              <a:t>Agents can advise better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engineering, modeling, risk scoring</a:t>
            </a:r>
          </a:p>
          <a:p>
            <a:r>
              <a:t>Generate heatmaps and actionable 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Help agents &amp; sellers in Edmonton determine if a property will stay on the market &gt; 60 days.</a:t>
            </a:r>
          </a:p>
          <a:p/>
          <a:p>
            <a:r>
              <a:t>Business benefits:</a:t>
            </a:r>
          </a:p>
          <a:p>
            <a:r>
              <a:t>- Adjust pricing strategies</a:t>
            </a:r>
          </a:p>
          <a:p>
            <a:r>
              <a:t>- Reduce time on market</a:t>
            </a:r>
          </a:p>
          <a:p>
            <a:r>
              <a:t>- Avoid expectation gaps</a:t>
            </a:r>
          </a:p>
          <a:p>
            <a:r>
              <a:t>- Improve selling efficiency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Data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Datasets:</a:t>
            </a:r>
          </a:p>
          <a:p>
            <a:r>
              <a:t>- Active Listings: Properties currently on the market</a:t>
            </a:r>
          </a:p>
          <a:p>
            <a:r>
              <a:t>- Sold Listings: Properties already sold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Duplicate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check for:</a:t>
            </a:r>
          </a:p>
          <a:p>
            <a:r>
              <a:t>- Full-row duplicates</a:t>
            </a:r>
          </a:p>
          <a:p>
            <a:r>
              <a:t>- Duplicate listing IDs</a:t>
            </a:r>
          </a:p>
          <a:p/>
          <a:p>
            <a:r>
              <a:t>Purpose:</a:t>
            </a:r>
          </a:p>
          <a:p>
            <a:r>
              <a:t>Ensure data integrity and avoid bias in analysis.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Remove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 to:</a:t>
            </a:r>
          </a:p>
          <a:p>
            <a:r>
              <a:t>- Keep each property unique</a:t>
            </a:r>
          </a:p>
          <a:p>
            <a:r>
              <a:t>- Prevent data leakage</a:t>
            </a:r>
          </a:p>
          <a:p>
            <a:r>
              <a:t>- Ensure accurate modeling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Filter Edmonton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Filtered datasets to Edmonton listings using 'area_city'.</a:t>
            </a:r>
          </a:p>
          <a:p>
            <a:r>
              <a:t>Focuses analysis on target market and aligns with project objectives.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Create 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stale_listing (1 if DOM &gt; 60 days, 0 otherwise)</a:t>
            </a:r>
          </a:p>
          <a:p>
            <a:r>
              <a:t>Only sold listings have DOM, so we use sold_df.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Pricing vs Neighborhood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 price_gap and price_gap_pct to see how over/underpriced a property is.</a:t>
            </a:r>
          </a:p>
          <a:p>
            <a:r>
              <a:t>Helps understand impact of pricing on time on market.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Price Gap &amp;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 DOM vs Price Gap (%)</a:t>
            </a:r>
          </a:p>
          <a:p>
            <a:r>
              <a:t>Correlation between price gap and DOM: 0.019 → almost no linear relationship</a:t>
            </a:r>
          </a:p>
          <a:p/>
          <a:p>
            <a:r>
              <a:t>Visual placeholder: Insert scatter plot screenshot 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Numeric Features &amp; Staleness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of numeric features with stale_listing:</a:t>
            </a:r>
          </a:p>
          <a:p>
            <a:r>
              <a:t>- Floor area: 0.052</a:t>
            </a:r>
          </a:p>
          <a:p>
            <a:r>
              <a:t>- List price: 0.047</a:t>
            </a:r>
          </a:p>
          <a:p>
            <a:r>
              <a:t>- Price gap: 0.027</a:t>
            </a:r>
          </a:p>
          <a:p>
            <a:r>
              <a:t>- Price gap %: 0.022</a:t>
            </a:r>
          </a:p>
          <a:p>
            <a:r>
              <a:t>- Baths: 0.015</a:t>
            </a:r>
          </a:p>
          <a:p>
            <a:r>
              <a:t>- Year built: -0.034</a:t>
            </a:r>
          </a:p>
          <a:p>
            <a:r>
              <a:t>- Beds: -0.059</a:t>
            </a:r>
          </a:p>
          <a:p/>
          <a:p>
            <a:r>
              <a:t>Insight: Numeric features alone are weak predictors of staleness.</a:t>
            </a:r>
          </a:p>
          <a:p/>
          <a:p>
            <a:r>
              <a:t>Visual placeholder: Optional bar chart of correlations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Categorical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Stale rates by category (top examples):</a:t>
            </a:r>
          </a:p>
          <a:p>
            <a:r>
              <a:t>- Style: Studios 44% stale, Modular 40%</a:t>
            </a:r>
          </a:p>
          <a:p>
            <a:r>
              <a:t>- Parking: Complex setups 100% stale</a:t>
            </a:r>
          </a:p>
          <a:p>
            <a:r>
              <a:t>- Ensuite: Yes 28%, No 23%</a:t>
            </a:r>
          </a:p>
          <a:p/>
          <a:p>
            <a:r>
              <a:t>Insight: Property type and features strongly influence DOM.</a:t>
            </a:r>
          </a:p>
          <a:p/>
          <a:p>
            <a:r>
              <a:t>Visual placeholder: Insert bar plots or tables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Insight: Overpriced Listings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- 48.1% of listings above neighborhood average</a:t>
            </a:r>
          </a:p>
          <a:p>
            <a:r>
              <a:t>- Overpriced properties stay longer on market</a:t>
            </a:r>
          </a:p>
          <a:p>
            <a:r>
              <a:t>- Recommendation: Price in line with neighborhood trends</a:t>
            </a:r>
          </a:p>
          <a:p/>
          <a:p>
            <a:r>
              <a:t>Visual placeholder: Insert table or plot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Insight: Seasonal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Average DOM by month</a:t>
            </a:r>
          </a:p>
          <a:p>
            <a:r>
              <a:t>- Jan &amp; Dec highest DOM, May fastest</a:t>
            </a:r>
          </a:p>
          <a:p>
            <a:r>
              <a:t>- Recommendation: List in late spring/early summer</a:t>
            </a:r>
          </a:p>
          <a:p/>
          <a:p>
            <a:r>
              <a:t>Visual placeholder: Insert bar chart of DOM by month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10: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features for modeling:</a:t>
            </a:r>
          </a:p>
          <a:p>
            <a:r>
              <a:t>- Price gap &amp; %</a:t>
            </a:r>
          </a:p>
          <a:p>
            <a:r>
              <a:t>- Floor area per bedroom</a:t>
            </a:r>
          </a:p>
          <a:p>
            <a:r>
              <a:t>- Bed-to-bath ratio</a:t>
            </a:r>
          </a:p>
          <a:p>
            <a:r>
              <a:t>- Time features: month, season, year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11: Latitude &amp; Longitude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full address to lat/lon using geopy and Nominatim.</a:t>
            </a:r>
          </a:p>
          <a:p>
            <a:r>
              <a:t>Sample of 1000 rows for geocoding to save time.</a:t>
            </a:r>
          </a:p>
          <a:p/>
          <a:p>
            <a:r>
              <a:t>Visual placeholder: Insert map or scatter plot of geocoded points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12: Geocoding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latitude: 264</a:t>
            </a:r>
          </a:p>
          <a:p>
            <a:r>
              <a:t>- Missing longitude: 264</a:t>
            </a:r>
          </a:p>
          <a:p>
            <a:r>
              <a:t>- Summary: mean/25/50/75% of coordinates</a:t>
            </a:r>
          </a:p>
          <a:p/>
          <a:p>
            <a:r>
              <a:t>Insight: Most addresses mapped correctly, ready for spatial analysis</a:t>
            </a:r>
          </a:p>
          <a:p/>
          <a:p>
            <a:r>
              <a:t>Visual placeholder: Optional table of stats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13: Map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 of geocoded properties across Edmonton.</a:t>
            </a:r>
          </a:p>
          <a:p>
            <a:r>
              <a:t>- Shows clusters and sparse areas</a:t>
            </a:r>
          </a:p>
          <a:p>
            <a:r>
              <a:t>- Helps identify popular neighborhoods</a:t>
            </a:r>
          </a:p>
          <a:p/>
          <a:p>
            <a:r>
              <a:t>Visual placeholder: Insert scatter plot screenshot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14: Modeling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Encode categorical variables (style, parking, community)</a:t>
            </a:r>
          </a:p>
          <a:p>
            <a:r>
              <a:t>- Merge internal + external features</a:t>
            </a:r>
          </a:p>
          <a:p>
            <a:r>
              <a:t>- Dataset ready for predictive modeling</a:t>
            </a:r>
          </a:p>
          <a:p/>
          <a:p>
            <a:r>
              <a:t>Code placeholder: Insert code screenshot here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Price matters, but not alone</a:t>
            </a:r>
          </a:p>
          <a:p>
            <a:r>
              <a:t>2. Seasonal timing affects DOM</a:t>
            </a:r>
          </a:p>
          <a:p>
            <a:r>
              <a:t>3. Property type &amp; features strongly affect staleness</a:t>
            </a:r>
          </a:p>
          <a:p>
            <a:r>
              <a:t>4. Agents can guide sellers on pricing, presentation &amp; timing</a:t>
            </a:r>
          </a:p>
          <a:p/>
          <a:p>
            <a:r>
              <a:t>Visual placeholder: Optional summary chart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Finish EDA &amp; business insights visualizations</a:t>
            </a:r>
          </a:p>
          <a:p>
            <a:r>
              <a:t>- Feature engineering and external data enrichment</a:t>
            </a:r>
          </a:p>
          <a:p>
            <a:r>
              <a:t>- Train predictive model (Random Forest)</a:t>
            </a:r>
          </a:p>
          <a:p>
            <a:r>
              <a:t>- Generate actionable recommendations for sellers</a:t>
            </a:r>
          </a:p>
          <a:p>
            <a:r>
              <a:t>- Risk scores &amp; neighborhood heatmaps for staleness</a:t>
            </a:r>
          </a:p>
          <a:p/>
          <a:p>
            <a:r>
              <a:t>Visual placeholder: Optional diagrams or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